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8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2C0538-FB97-4071-A802-61EDD8F8EB92}" v="5" dt="2026-10-10T11:02:32.52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835B6-A497-44E3-AE9D-1AE5D0F909F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F6A9B-6D18-4CDB-B06F-4AF86F936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626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F6A9B-6D18-4CDB-B06F-4AF86F9365A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5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05900" y="1495425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3085719" y="0"/>
                </a:moveTo>
                <a:lnTo>
                  <a:pt x="0" y="0"/>
                </a:lnTo>
                <a:lnTo>
                  <a:pt x="0" y="9525"/>
                </a:lnTo>
                <a:lnTo>
                  <a:pt x="3085719" y="9525"/>
                </a:lnTo>
                <a:lnTo>
                  <a:pt x="3085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407878" y="34458"/>
            <a:ext cx="2784475" cy="6823709"/>
          </a:xfrm>
          <a:custGeom>
            <a:avLst/>
            <a:gdLst/>
            <a:ahLst/>
            <a:cxnLst/>
            <a:rect l="l" t="t" r="r" b="b"/>
            <a:pathLst>
              <a:path w="2784475" h="6823709">
                <a:moveTo>
                  <a:pt x="2784121" y="0"/>
                </a:moveTo>
                <a:lnTo>
                  <a:pt x="0" y="682354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287" y="14350"/>
            <a:ext cx="1190625" cy="2028825"/>
          </a:xfrm>
          <a:custGeom>
            <a:avLst/>
            <a:gdLst/>
            <a:ahLst/>
            <a:cxnLst/>
            <a:rect l="l" t="t" r="r" b="b"/>
            <a:pathLst>
              <a:path w="1190625" h="2028825">
                <a:moveTo>
                  <a:pt x="0" y="2028698"/>
                </a:moveTo>
                <a:lnTo>
                  <a:pt x="119011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33349"/>
            <a:ext cx="10525125" cy="14382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27150" y="2091436"/>
            <a:ext cx="9586595" cy="878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68686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68686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68686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68686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68686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05900" y="1495425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3085719" y="0"/>
                </a:moveTo>
                <a:lnTo>
                  <a:pt x="0" y="0"/>
                </a:lnTo>
                <a:lnTo>
                  <a:pt x="0" y="9525"/>
                </a:lnTo>
                <a:lnTo>
                  <a:pt x="3085719" y="9525"/>
                </a:lnTo>
                <a:lnTo>
                  <a:pt x="3085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407878" y="34458"/>
            <a:ext cx="2784475" cy="6823709"/>
          </a:xfrm>
          <a:custGeom>
            <a:avLst/>
            <a:gdLst/>
            <a:ahLst/>
            <a:cxnLst/>
            <a:rect l="l" t="t" r="r" b="b"/>
            <a:pathLst>
              <a:path w="2784475" h="6823709">
                <a:moveTo>
                  <a:pt x="2784121" y="0"/>
                </a:moveTo>
                <a:lnTo>
                  <a:pt x="0" y="682354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287" y="14350"/>
            <a:ext cx="1190625" cy="2028825"/>
          </a:xfrm>
          <a:custGeom>
            <a:avLst/>
            <a:gdLst/>
            <a:ahLst/>
            <a:cxnLst/>
            <a:rect l="l" t="t" r="r" b="b"/>
            <a:pathLst>
              <a:path w="1190625" h="2028825">
                <a:moveTo>
                  <a:pt x="0" y="2028698"/>
                </a:moveTo>
                <a:lnTo>
                  <a:pt x="119011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2875" y="209549"/>
            <a:ext cx="781050" cy="7905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33804" y="261238"/>
            <a:ext cx="8785224" cy="1119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8697" y="1586166"/>
            <a:ext cx="9092565" cy="4420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95431" y="6475039"/>
            <a:ext cx="165100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68686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1302702" y="2624145"/>
            <a:ext cx="9586595" cy="1114408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algn="ctr"/>
            <a:r>
              <a:rPr lang="en-IN" sz="3600" dirty="0"/>
              <a:t>Distributed Operating System for a Multi-Location Company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1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4069080" y="3907743"/>
            <a:ext cx="377952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800" b="1" spc="-10">
                <a:latin typeface="Arial MT"/>
                <a:cs typeface="Arial MT"/>
              </a:rPr>
              <a:t>CSA</a:t>
            </a:r>
            <a:r>
              <a:rPr lang="en-US" b="1" spc="-10" dirty="0">
                <a:latin typeface="Arial MT"/>
                <a:cs typeface="Arial MT"/>
              </a:rPr>
              <a:t>0415</a:t>
            </a:r>
            <a:r>
              <a:rPr lang="en-US" sz="1800" b="1" spc="-10" dirty="0">
                <a:latin typeface="Arial MT"/>
                <a:cs typeface="Arial MT"/>
              </a:rPr>
              <a:t> </a:t>
            </a:r>
            <a:r>
              <a:rPr lang="en-IN" sz="1800" b="1" spc="-10" dirty="0">
                <a:latin typeface="Arial MT"/>
                <a:cs typeface="Arial MT"/>
              </a:rPr>
              <a:t>– </a:t>
            </a:r>
            <a:r>
              <a:rPr lang="en-IN" b="1" spc="-10" dirty="0">
                <a:latin typeface="Arial MT"/>
                <a:cs typeface="Arial MT"/>
              </a:rPr>
              <a:t>OPERATING SYSTEMS</a:t>
            </a:r>
            <a:endParaRPr lang="en-IN" b="1" spc="-10">
              <a:latin typeface="Arial MT"/>
              <a:cs typeface="Arial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38975B-919A-B0D9-DF11-1108F32BEEFC}"/>
              </a:ext>
            </a:extLst>
          </p:cNvPr>
          <p:cNvSpPr txBox="1"/>
          <p:nvPr/>
        </p:nvSpPr>
        <p:spPr>
          <a:xfrm>
            <a:off x="7848600" y="4366756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/>
              <a:t>PRESENTED BY: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C630E8-309C-AD78-FF2A-D1261104D0CE}"/>
              </a:ext>
            </a:extLst>
          </p:cNvPr>
          <p:cNvSpPr txBox="1"/>
          <p:nvPr/>
        </p:nvSpPr>
        <p:spPr>
          <a:xfrm>
            <a:off x="8229600" y="4822623"/>
            <a:ext cx="381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/>
              <a:t>Monal </a:t>
            </a:r>
            <a:r>
              <a:rPr lang="en-US" sz="1600" err="1"/>
              <a:t>Raj.B</a:t>
            </a:r>
            <a:r>
              <a:rPr lang="en-US" sz="1600"/>
              <a:t>(192511176)</a:t>
            </a:r>
            <a:endParaRPr lang="en-IN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A26C7C-6CBD-7BF2-D62E-10BC92F381B9}"/>
              </a:ext>
            </a:extLst>
          </p:cNvPr>
          <p:cNvSpPr txBox="1"/>
          <p:nvPr/>
        </p:nvSpPr>
        <p:spPr>
          <a:xfrm>
            <a:off x="914400" y="4366756"/>
            <a:ext cx="259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/>
              <a:t>GUIDED BY: </a:t>
            </a:r>
          </a:p>
          <a:p>
            <a:endParaRPr lang="en-IN" sz="1600"/>
          </a:p>
          <a:p>
            <a:r>
              <a:rPr lang="en-IN" sz="1600"/>
              <a:t>          </a:t>
            </a:r>
            <a:r>
              <a:rPr lang="en-IN" sz="1600" err="1"/>
              <a:t>Dr.</a:t>
            </a:r>
            <a:r>
              <a:rPr lang="en-IN" sz="1600" dirty="0" err="1"/>
              <a:t>C</a:t>
            </a:r>
            <a:r>
              <a:rPr lang="en-IN" sz="1600" err="1"/>
              <a:t>.</a:t>
            </a:r>
            <a:r>
              <a:rPr lang="en-IN" sz="1600" dirty="0" err="1"/>
              <a:t>Chandravathi</a:t>
            </a:r>
            <a:endParaRPr lang="en-IN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6B5468-EF78-E202-11A9-387F7A00149D}"/>
              </a:ext>
            </a:extLst>
          </p:cNvPr>
          <p:cNvSpPr txBox="1"/>
          <p:nvPr/>
        </p:nvSpPr>
        <p:spPr>
          <a:xfrm>
            <a:off x="3806951" y="2254813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/>
              <a:t>CO1AT3 – 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33804" y="343534"/>
            <a:ext cx="8785224" cy="1119886"/>
          </a:xfrm>
          <a:prstGeom prst="rect">
            <a:avLst/>
          </a:prstGeom>
        </p:spPr>
        <p:txBody>
          <a:bodyPr vert="horz" wrap="square" lIns="0" tIns="424878" rIns="0" bIns="0" rtlCol="0">
            <a:spAutoFit/>
          </a:bodyPr>
          <a:lstStyle/>
          <a:p>
            <a:pPr marL="3001010">
              <a:lnSpc>
                <a:spcPct val="100000"/>
              </a:lnSpc>
              <a:spcBef>
                <a:spcPts val="130"/>
              </a:spcBef>
            </a:pPr>
            <a:r>
              <a:rPr spc="65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1825" y="180975"/>
            <a:ext cx="952500" cy="7905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33804" y="2069592"/>
            <a:ext cx="8153401" cy="24994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Real-Time Operating System (RTOS) is designed to execute tasks within specified time limits.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Traffic signal control systems require accurate timing and quick responses to changing traffic conditions.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RTOS manages sensors, signal lights, timers, and communication devices.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It ensures predictable and reliable operation of traffic signals.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Example: </a:t>
            </a:r>
            <a:r>
              <a:rPr lang="en-IN" dirty="0" err="1"/>
              <a:t>FreeRTOS</a:t>
            </a:r>
            <a:r>
              <a:rPr lang="en-IN" dirty="0"/>
              <a:t>, QNX, and VxWorks.</a:t>
            </a:r>
          </a:p>
          <a:p>
            <a:pPr lvl="0" algn="just"/>
            <a:endParaRPr lang="en-IN" sz="1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2</a:t>
            </a:fld>
            <a:endParaRPr spc="-2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6799" y="381000"/>
            <a:ext cx="9576817" cy="995143"/>
          </a:xfrm>
          <a:prstGeom prst="rect">
            <a:avLst/>
          </a:prstGeom>
        </p:spPr>
        <p:txBody>
          <a:bodyPr vert="horz" wrap="square" lIns="0" tIns="383539" rIns="0" bIns="0" rtlCol="0">
            <a:spAutoFit/>
          </a:bodyPr>
          <a:lstStyle/>
          <a:p>
            <a:pPr algn="ctr"/>
            <a:r>
              <a:rPr lang="en-IN" dirty="0"/>
              <a:t>Type of OS and Its Characteristics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1825" y="180975"/>
            <a:ext cx="952500" cy="7905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26465" y="1932432"/>
            <a:ext cx="8403336" cy="34176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rPr lang="en-IN" b="1" dirty="0"/>
              <a:t>Type of OS and Its Characteristics</a:t>
            </a:r>
          </a:p>
          <a:p>
            <a:endParaRPr lang="en-IN" b="1" dirty="0"/>
          </a:p>
          <a:p>
            <a:r>
              <a:rPr lang="en-IN" dirty="0"/>
              <a:t>Type: Real-Time Operating System (RTOS)</a:t>
            </a:r>
          </a:p>
          <a:p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Deterministic Response: Responds to events within predictable time limits.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Low Latency: Processes sensor inputs and interrupts quickly.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Priority-Based Scheduling: Gives critical traffic-control tasks higher priority.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Reliability: Helps maintain stable operation of traffic signals.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Multitasking: Allows sensor monitoring, timer management, and signal control to operate concurrently.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Deadline Management: Ensures that signal changes occur at the required time.</a:t>
            </a:r>
          </a:p>
          <a:p>
            <a:pPr algn="just"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3</a:t>
            </a:fld>
            <a:endParaRPr spc="-2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1825" y="180975"/>
            <a:ext cx="952500" cy="7905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4</a:t>
            </a:fld>
            <a:endParaRPr spc="-25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2801486-2C15-084C-21C9-B82FFDD32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514264"/>
            <a:ext cx="8785224" cy="1215717"/>
          </a:xfrm>
        </p:spPr>
        <p:txBody>
          <a:bodyPr/>
          <a:lstStyle/>
          <a:p>
            <a:pPr algn="ctr"/>
            <a:r>
              <a:rPr lang="en-IN" dirty="0"/>
              <a:t>System </a:t>
            </a:r>
            <a:r>
              <a:rPr lang="en-IN"/>
              <a:t>Architecture</a:t>
            </a:r>
            <a:br>
              <a:rPr lang="en-IN"/>
            </a:b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B852C9-3E73-CF45-0316-D4FAB3DB1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833" y="1065637"/>
            <a:ext cx="7504334" cy="5491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7C87-C951-90B7-467B-11EED73B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484" y="297814"/>
            <a:ext cx="8785224" cy="1215717"/>
          </a:xfrm>
        </p:spPr>
        <p:txBody>
          <a:bodyPr/>
          <a:lstStyle/>
          <a:p>
            <a:pPr algn="ctr"/>
            <a:r>
              <a:rPr lang="en-IN" dirty="0"/>
              <a:t>System Calls for Communication and Coordination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13973-9DE1-3FCE-415C-F3F7D6327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3804" y="1942782"/>
            <a:ext cx="7449503" cy="5074723"/>
          </a:xfrm>
        </p:spPr>
        <p:txBody>
          <a:bodyPr/>
          <a:lstStyle/>
          <a:p>
            <a:r>
              <a:rPr lang="en-IN" b="1" dirty="0"/>
              <a:t>System Calls for Process Control and Timing</a:t>
            </a:r>
          </a:p>
          <a:p>
            <a:endParaRPr lang="en-IN" b="1" dirty="0"/>
          </a:p>
          <a:p>
            <a:r>
              <a:rPr lang="en-IN" b="1" dirty="0"/>
              <a:t> Process Control System Calls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fork() – Creates a new process in operating systems that support process creation.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exec() – Replaces the current process with a new program.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wait() / </a:t>
            </a:r>
            <a:r>
              <a:rPr lang="en-IN" dirty="0" err="1"/>
              <a:t>waitpid</a:t>
            </a:r>
            <a:r>
              <a:rPr lang="en-IN" dirty="0"/>
              <a:t>() – Waits for a child process to finish.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getpid</a:t>
            </a:r>
            <a:r>
              <a:rPr lang="en-IN" dirty="0"/>
              <a:t>() – Returns the process ID of the current process.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kill() – Sends a signal to a process; its use must be carefully controlled in real-time applications.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 Timing System Calls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clock_gettime</a:t>
            </a:r>
            <a:r>
              <a:rPr lang="en-IN" dirty="0"/>
              <a:t>() – Reads the current time from a specified clock.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clock_nanosleep</a:t>
            </a:r>
            <a:r>
              <a:rPr lang="en-IN" dirty="0"/>
              <a:t>() – Suspends execution until a specified time or duration.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timer_create</a:t>
            </a:r>
            <a:r>
              <a:rPr lang="en-IN" dirty="0"/>
              <a:t>() – Creates a timer that can notify a process when it expires.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timer_settime</a:t>
            </a:r>
            <a:r>
              <a:rPr lang="en-IN" dirty="0"/>
              <a:t>() – Starts or configures a timer.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nanosleep</a:t>
            </a:r>
            <a:r>
              <a:rPr lang="en-IN" dirty="0"/>
              <a:t>() – Suspends a process for a specified time.</a:t>
            </a:r>
          </a:p>
          <a:p>
            <a:pPr algn="just">
              <a:lnSpc>
                <a:spcPct val="150000"/>
              </a:lnSpc>
            </a:pPr>
            <a:endParaRPr lang="en-IN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EFB687D-9125-3CC7-F7B5-458E029CF07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1825" y="180975"/>
            <a:ext cx="9525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954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33804" y="261238"/>
            <a:ext cx="8785224" cy="1466427"/>
          </a:xfrm>
          <a:prstGeom prst="rect">
            <a:avLst/>
          </a:prstGeom>
        </p:spPr>
        <p:txBody>
          <a:bodyPr vert="horz" wrap="square" lIns="0" tIns="248285" rIns="0" bIns="0" rtlCol="0">
            <a:spAutoFit/>
          </a:bodyPr>
          <a:lstStyle/>
          <a:p>
            <a:pPr algn="ctr"/>
            <a:r>
              <a:rPr lang="en-IN" dirty="0"/>
              <a:t>Application in a Multi-Location Company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1825" y="180975"/>
            <a:ext cx="952500" cy="7905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6</a:t>
            </a:fld>
            <a:endParaRPr spc="-25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B7BF01-CD60-8B3D-231E-65B894BF9F8E}"/>
              </a:ext>
            </a:extLst>
          </p:cNvPr>
          <p:cNvSpPr txBox="1"/>
          <p:nvPr/>
        </p:nvSpPr>
        <p:spPr>
          <a:xfrm>
            <a:off x="1989442" y="2362888"/>
            <a:ext cx="8031988" cy="405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Application in Traffic Signal Control</a:t>
            </a:r>
          </a:p>
          <a:p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Vehicle Detection: </a:t>
            </a:r>
            <a:r>
              <a:rPr lang="en-IN" dirty="0"/>
              <a:t>Sensors detect vehicles waiting at intersections.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Signal Timing: </a:t>
            </a:r>
            <a:r>
              <a:rPr lang="en-IN" dirty="0"/>
              <a:t>Timers control the duration of red, yellow, and green lights.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Task Scheduling</a:t>
            </a:r>
            <a:r>
              <a:rPr lang="en-IN" dirty="0"/>
              <a:t>: High-priority safety and signal-control tasks are executed promptly.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Emergency Vehicle Priority: </a:t>
            </a:r>
            <a:r>
              <a:rPr lang="en-IN" dirty="0"/>
              <a:t>The system can prioritize emergency vehicles when supported by suitable sensors and control logic.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Coordination: </a:t>
            </a:r>
            <a:r>
              <a:rPr lang="en-IN" dirty="0"/>
              <a:t>Communication between nearby traffic signals helps improve traffic flow.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Fault Handling: </a:t>
            </a:r>
            <a:r>
              <a:rPr lang="en-IN" dirty="0"/>
              <a:t>The system detects faults and switches to a predefined safe state.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03388" y="513311"/>
            <a:ext cx="8785224" cy="639278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algn="ctr"/>
            <a:r>
              <a:rPr lang="en-IN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1825" y="180975"/>
            <a:ext cx="952500" cy="7905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01952" y="1938528"/>
            <a:ext cx="7808976" cy="44454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An RTOS is suitable for traffic signal control because it provides predictable task execution and timing.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Its scheduler, interrupt handler, and timer services support time-critical operations.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Process-control and timing APIs help manage execution and scheduled events.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Proper priority assignment and fault handling improve system reliability and traffic safety.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Therefore, an RTOS is an effective choice for real-time embedded traffic-control applications.</a:t>
            </a:r>
          </a:p>
          <a:p>
            <a:br>
              <a:rPr lang="en-IN" dirty="0"/>
            </a:br>
            <a:endParaRPr lang="en-IN" sz="18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7</a:t>
            </a:fld>
            <a:endParaRPr spc="-2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525" y="9524"/>
            <a:ext cx="3162300" cy="6848475"/>
          </a:xfrm>
          <a:custGeom>
            <a:avLst/>
            <a:gdLst/>
            <a:ahLst/>
            <a:cxnLst/>
            <a:rect l="l" t="t" r="r" b="b"/>
            <a:pathLst>
              <a:path w="3162300" h="6848475">
                <a:moveTo>
                  <a:pt x="3162046" y="4761484"/>
                </a:moveTo>
                <a:lnTo>
                  <a:pt x="3146679" y="4683125"/>
                </a:lnTo>
                <a:lnTo>
                  <a:pt x="3146679" y="4756658"/>
                </a:lnTo>
                <a:lnTo>
                  <a:pt x="2310130" y="5568442"/>
                </a:lnTo>
                <a:lnTo>
                  <a:pt x="2446020" y="4290060"/>
                </a:lnTo>
                <a:lnTo>
                  <a:pt x="2132965" y="4066159"/>
                </a:lnTo>
                <a:lnTo>
                  <a:pt x="2121662" y="4058031"/>
                </a:lnTo>
                <a:lnTo>
                  <a:pt x="2136140" y="4049014"/>
                </a:lnTo>
                <a:lnTo>
                  <a:pt x="2584323" y="3771519"/>
                </a:lnTo>
                <a:lnTo>
                  <a:pt x="2563368" y="3744976"/>
                </a:lnTo>
                <a:lnTo>
                  <a:pt x="2563368" y="3767709"/>
                </a:lnTo>
                <a:lnTo>
                  <a:pt x="2109089" y="4049014"/>
                </a:lnTo>
                <a:lnTo>
                  <a:pt x="2112137" y="4040378"/>
                </a:lnTo>
                <a:lnTo>
                  <a:pt x="2315718" y="3455289"/>
                </a:lnTo>
                <a:lnTo>
                  <a:pt x="2563368" y="3767709"/>
                </a:lnTo>
                <a:lnTo>
                  <a:pt x="2563368" y="3744976"/>
                </a:lnTo>
                <a:lnTo>
                  <a:pt x="2333625" y="3455289"/>
                </a:lnTo>
                <a:lnTo>
                  <a:pt x="2321179" y="3439541"/>
                </a:lnTo>
                <a:lnTo>
                  <a:pt x="2325751" y="3426333"/>
                </a:lnTo>
                <a:lnTo>
                  <a:pt x="2683129" y="2399665"/>
                </a:lnTo>
                <a:lnTo>
                  <a:pt x="3146679" y="4756658"/>
                </a:lnTo>
                <a:lnTo>
                  <a:pt x="3146679" y="4683125"/>
                </a:lnTo>
                <a:lnTo>
                  <a:pt x="2697734" y="2399665"/>
                </a:lnTo>
                <a:lnTo>
                  <a:pt x="2696591" y="2393569"/>
                </a:lnTo>
                <a:lnTo>
                  <a:pt x="2688590" y="2383790"/>
                </a:lnTo>
                <a:lnTo>
                  <a:pt x="2693035" y="2370836"/>
                </a:lnTo>
                <a:lnTo>
                  <a:pt x="2951226" y="1629283"/>
                </a:lnTo>
                <a:lnTo>
                  <a:pt x="2931795" y="1627632"/>
                </a:lnTo>
                <a:lnTo>
                  <a:pt x="2931795" y="1641983"/>
                </a:lnTo>
                <a:lnTo>
                  <a:pt x="2678049" y="2370836"/>
                </a:lnTo>
                <a:lnTo>
                  <a:pt x="2672588" y="2364105"/>
                </a:lnTo>
                <a:lnTo>
                  <a:pt x="2672588" y="2386711"/>
                </a:lnTo>
                <a:lnTo>
                  <a:pt x="2310765" y="3426333"/>
                </a:lnTo>
                <a:lnTo>
                  <a:pt x="747458" y="1454277"/>
                </a:lnTo>
                <a:lnTo>
                  <a:pt x="1998599" y="1561719"/>
                </a:lnTo>
                <a:lnTo>
                  <a:pt x="2672588" y="2386711"/>
                </a:lnTo>
                <a:lnTo>
                  <a:pt x="2672588" y="2364105"/>
                </a:lnTo>
                <a:lnTo>
                  <a:pt x="2018411" y="1563497"/>
                </a:lnTo>
                <a:lnTo>
                  <a:pt x="2931795" y="1641983"/>
                </a:lnTo>
                <a:lnTo>
                  <a:pt x="2931795" y="1627632"/>
                </a:lnTo>
                <a:lnTo>
                  <a:pt x="2186051" y="1563497"/>
                </a:lnTo>
                <a:lnTo>
                  <a:pt x="2005838" y="1548003"/>
                </a:lnTo>
                <a:lnTo>
                  <a:pt x="2004441" y="1546352"/>
                </a:lnTo>
                <a:lnTo>
                  <a:pt x="741222" y="0"/>
                </a:lnTo>
                <a:lnTo>
                  <a:pt x="730224" y="9017"/>
                </a:lnTo>
                <a:lnTo>
                  <a:pt x="1986026" y="1546352"/>
                </a:lnTo>
                <a:lnTo>
                  <a:pt x="914184" y="1454277"/>
                </a:lnTo>
                <a:lnTo>
                  <a:pt x="735291" y="1438910"/>
                </a:lnTo>
                <a:lnTo>
                  <a:pt x="733983" y="1437259"/>
                </a:lnTo>
                <a:lnTo>
                  <a:pt x="11112" y="525272"/>
                </a:lnTo>
                <a:lnTo>
                  <a:pt x="0" y="534162"/>
                </a:lnTo>
                <a:lnTo>
                  <a:pt x="715848" y="1437259"/>
                </a:lnTo>
                <a:lnTo>
                  <a:pt x="6159" y="1376299"/>
                </a:lnTo>
                <a:lnTo>
                  <a:pt x="4953" y="1390396"/>
                </a:lnTo>
                <a:lnTo>
                  <a:pt x="728014" y="1452626"/>
                </a:lnTo>
                <a:lnTo>
                  <a:pt x="2305177" y="3442208"/>
                </a:lnTo>
                <a:lnTo>
                  <a:pt x="2097024" y="4040378"/>
                </a:lnTo>
                <a:lnTo>
                  <a:pt x="1106322" y="3331337"/>
                </a:lnTo>
                <a:lnTo>
                  <a:pt x="1085735" y="3316605"/>
                </a:lnTo>
                <a:lnTo>
                  <a:pt x="1088034" y="3307715"/>
                </a:lnTo>
                <a:lnTo>
                  <a:pt x="1230312" y="2756916"/>
                </a:lnTo>
                <a:lnTo>
                  <a:pt x="8610" y="2172335"/>
                </a:lnTo>
                <a:lnTo>
                  <a:pt x="2489" y="2185289"/>
                </a:lnTo>
                <a:lnTo>
                  <a:pt x="1213612" y="2764790"/>
                </a:lnTo>
                <a:lnTo>
                  <a:pt x="1073340" y="3307715"/>
                </a:lnTo>
                <a:lnTo>
                  <a:pt x="9690" y="2546604"/>
                </a:lnTo>
                <a:lnTo>
                  <a:pt x="1422" y="2558034"/>
                </a:lnTo>
                <a:lnTo>
                  <a:pt x="1069543" y="3322447"/>
                </a:lnTo>
                <a:lnTo>
                  <a:pt x="864831" y="4115054"/>
                </a:lnTo>
                <a:lnTo>
                  <a:pt x="685" y="4928489"/>
                </a:lnTo>
                <a:lnTo>
                  <a:pt x="10414" y="4938903"/>
                </a:lnTo>
                <a:lnTo>
                  <a:pt x="877544" y="4122674"/>
                </a:lnTo>
                <a:lnTo>
                  <a:pt x="1081938" y="3331337"/>
                </a:lnTo>
                <a:lnTo>
                  <a:pt x="2092198" y="4054348"/>
                </a:lnTo>
                <a:lnTo>
                  <a:pt x="2089785" y="4061079"/>
                </a:lnTo>
                <a:lnTo>
                  <a:pt x="1816" y="5354447"/>
                </a:lnTo>
                <a:lnTo>
                  <a:pt x="9296" y="5366512"/>
                </a:lnTo>
                <a:lnTo>
                  <a:pt x="2082419" y="4082415"/>
                </a:lnTo>
                <a:lnTo>
                  <a:pt x="1639189" y="5355717"/>
                </a:lnTo>
                <a:lnTo>
                  <a:pt x="1943" y="6324397"/>
                </a:lnTo>
                <a:lnTo>
                  <a:pt x="9169" y="6336678"/>
                </a:lnTo>
                <a:lnTo>
                  <a:pt x="1650873" y="5365242"/>
                </a:lnTo>
                <a:lnTo>
                  <a:pt x="2097405" y="4082415"/>
                </a:lnTo>
                <a:lnTo>
                  <a:pt x="2101596" y="4070477"/>
                </a:lnTo>
                <a:lnTo>
                  <a:pt x="2108708" y="4066159"/>
                </a:lnTo>
                <a:lnTo>
                  <a:pt x="2430907" y="4296664"/>
                </a:lnTo>
                <a:lnTo>
                  <a:pt x="2294128" y="5583923"/>
                </a:lnTo>
                <a:lnTo>
                  <a:pt x="1001712" y="6838124"/>
                </a:lnTo>
                <a:lnTo>
                  <a:pt x="1011580" y="6848361"/>
                </a:lnTo>
                <a:lnTo>
                  <a:pt x="2291842" y="5605958"/>
                </a:lnTo>
                <a:lnTo>
                  <a:pt x="2160397" y="6842493"/>
                </a:lnTo>
                <a:lnTo>
                  <a:pt x="2174621" y="6844004"/>
                </a:lnTo>
                <a:lnTo>
                  <a:pt x="2306193" y="5605958"/>
                </a:lnTo>
                <a:lnTo>
                  <a:pt x="2307844" y="5590451"/>
                </a:lnTo>
                <a:lnTo>
                  <a:pt x="2330577" y="5568442"/>
                </a:lnTo>
                <a:lnTo>
                  <a:pt x="3162046" y="47614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355846" y="3113023"/>
            <a:ext cx="281114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0" spc="60">
                <a:solidFill>
                  <a:srgbClr val="FFFFFF"/>
                </a:solidFill>
                <a:latin typeface="Tahoma"/>
                <a:cs typeface="Tahoma"/>
              </a:rPr>
              <a:t>THANK</a:t>
            </a:r>
            <a:r>
              <a:rPr b="0" spc="3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b="0" spc="-25">
                <a:solidFill>
                  <a:srgbClr val="FFFFFF"/>
                </a:solidFill>
                <a:latin typeface="Tahoma"/>
                <a:cs typeface="Tahoma"/>
              </a:rPr>
              <a:t>YOU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8</a:t>
            </a:fld>
            <a:endParaRPr spc="-2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530</Words>
  <Application>Microsoft Office PowerPoint</Application>
  <PresentationFormat>Widescreen</PresentationFormat>
  <Paragraphs>71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Arial MT</vt:lpstr>
      <vt:lpstr>Tahoma</vt:lpstr>
      <vt:lpstr>Times New Roman</vt:lpstr>
      <vt:lpstr>Trebuchet MS</vt:lpstr>
      <vt:lpstr>Office Theme</vt:lpstr>
      <vt:lpstr>Distributed Operating System for a Multi-Location Company</vt:lpstr>
      <vt:lpstr>Introduction</vt:lpstr>
      <vt:lpstr>Type of OS and Its Characteristics</vt:lpstr>
      <vt:lpstr>System Architecture </vt:lpstr>
      <vt:lpstr>System Calls for Communication and Coordination</vt:lpstr>
      <vt:lpstr>Application in a Multi-Location Company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Operating System for a Multi-Location Company</dc:title>
  <dc:creator>Gokul</dc:creator>
  <cp:lastModifiedBy>Gokul M</cp:lastModifiedBy>
  <cp:revision>3</cp:revision>
  <dcterms:created xsi:type="dcterms:W3CDTF">2026-09-05T03:22:47Z</dcterms:created>
  <dcterms:modified xsi:type="dcterms:W3CDTF">2026-10-10T11:04:23Z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2026-09-04T00:00:00Z</vt:filetime>
  </property>
  <property fmtid="{D5CDD505-2E9C-101B-9397-08002B2CF9AE}" pid="4" name="LastSaved">
    <vt:filetime>2026-09-05T00:00:00Z</vt:filetime>
  </property>
</Properties>
</file>